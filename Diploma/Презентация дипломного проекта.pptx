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2" r:id="rId6"/>
    <p:sldId id="263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Black" panose="02000000000000000000" pitchFamily="2" charset="0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28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0fd95aa0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120fd95aa0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" name="Google Shape;59;g120fd95aa07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20fd95aa07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g120fd95aa07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0fd95aa07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g120fd95aa07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0fd95aa07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120fd95aa07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20fd95aa07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g120fd95aa07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20fd95aa07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120fd95aa07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139" y="3867894"/>
            <a:ext cx="2926773" cy="8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801" y="771550"/>
            <a:ext cx="3126119" cy="72964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725800" y="2499750"/>
            <a:ext cx="8042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" sz="4000" dirty="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Дипломный прое</a:t>
            </a:r>
            <a:r>
              <a:rPr lang="ru-RU" sz="4000" dirty="0" err="1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кт</a:t>
            </a:r>
            <a:endParaRPr sz="4000" dirty="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755576" y="3241308"/>
            <a:ext cx="6750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ФИО участника курса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 b="0" i="0" u="none" strike="noStrike" cap="none" dirty="0">
                <a:solidFill>
                  <a:schemeClr val="lt1"/>
                </a:solidFill>
                <a:latin typeface="Roboto"/>
                <a:sym typeface="Roboto"/>
              </a:rPr>
              <a:t>Лавров П</a:t>
            </a:r>
            <a:r>
              <a:rPr lang="ru" sz="1600" dirty="0">
                <a:solidFill>
                  <a:schemeClr val="lt1"/>
                </a:solidFill>
                <a:latin typeface="Roboto"/>
                <a:sym typeface="Roboto"/>
              </a:rPr>
              <a:t>.А.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2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091077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323524" y="690250"/>
            <a:ext cx="313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О чём Ваш проект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39552" y="1552024"/>
            <a:ext cx="3528300" cy="10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26343" y="1244247"/>
            <a:ext cx="351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400"/>
            </a:pPr>
            <a:r>
              <a:rPr lang="ru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Тема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-RU" dirty="0"/>
              <a:t>Разработка системы для автоматической оценки точности выполнения физических упражнений на основе сравнения поз с эталонным образцом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93844" y="1182692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 b="0" i="0" u="none" strike="noStrike" cap="non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endParaRPr sz="1800" b="0" i="0" u="none" strike="noStrike" cap="non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4816544" y="1552024"/>
            <a:ext cx="4075800" cy="12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803336" y="1244247"/>
            <a:ext cx="4155034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-RU" dirty="0"/>
              <a:t>Создать программное решение, которое позволяет:</a:t>
            </a:r>
            <a:endParaRPr lang="en-US" dirty="0"/>
          </a:p>
          <a:p>
            <a:pPr latinLnBrk="1"/>
            <a:endParaRPr lang="ru-RU" dirty="0"/>
          </a:p>
          <a:p>
            <a:pPr marL="285750" indent="-285750" latinLnBrk="1">
              <a:buFontTx/>
              <a:buChar char="-"/>
            </a:pPr>
            <a:r>
              <a:rPr lang="ru-RU" dirty="0"/>
              <a:t>Автоматически анализировать точность </a:t>
            </a:r>
            <a:r>
              <a:rPr lang="en-US" dirty="0"/>
              <a:t>         </a:t>
            </a:r>
            <a:r>
              <a:rPr lang="ru-RU" dirty="0"/>
              <a:t>выполнения упражнений</a:t>
            </a:r>
            <a:endParaRPr lang="en-US" dirty="0"/>
          </a:p>
          <a:p>
            <a:pPr marL="285750" indent="-285750" latinLnBrk="1">
              <a:buFontTx/>
              <a:buChar char="-"/>
            </a:pPr>
            <a:endParaRPr lang="ru-RU" dirty="0"/>
          </a:p>
          <a:p>
            <a:pPr marL="285750" indent="-285750" latinLnBrk="1">
              <a:buFontTx/>
              <a:buChar char="-"/>
            </a:pPr>
            <a:r>
              <a:rPr lang="ru-RU" dirty="0"/>
              <a:t>Предоставлять количественную оценку </a:t>
            </a:r>
            <a:r>
              <a:rPr lang="en-US" dirty="0"/>
              <a:t>          </a:t>
            </a:r>
            <a:r>
              <a:rPr lang="ru-RU" dirty="0"/>
              <a:t>качества выполнения</a:t>
            </a:r>
            <a:endParaRPr lang="en-US" dirty="0"/>
          </a:p>
          <a:p>
            <a:pPr marL="285750" indent="-285750" latinLnBrk="1">
              <a:buFontTx/>
              <a:buChar char="-"/>
            </a:pPr>
            <a:endParaRPr lang="ru-RU" dirty="0"/>
          </a:p>
          <a:p>
            <a:pPr marL="285750" indent="-285750" latinLnBrk="1">
              <a:buFontTx/>
              <a:buChar char="-"/>
            </a:pPr>
            <a:r>
              <a:rPr lang="ru-RU" dirty="0"/>
              <a:t>Визуализировать различия между эталонной и выполненной позой</a:t>
            </a:r>
            <a:endParaRPr lang="en-US" dirty="0"/>
          </a:p>
          <a:p>
            <a:pPr marL="285750" indent="-285750" latinLnBrk="1">
              <a:buFontTx/>
              <a:buChar char="-"/>
            </a:pPr>
            <a:endParaRPr lang="ru-RU" dirty="0"/>
          </a:p>
          <a:p>
            <a:pPr latinLnBrk="1"/>
            <a:r>
              <a:rPr lang="ru-RU" dirty="0"/>
              <a:t>- Генерировать отчеты о прогрессе </a:t>
            </a:r>
            <a:r>
              <a:rPr lang="en-US" dirty="0"/>
              <a:t>                   </a:t>
            </a:r>
            <a:r>
              <a:rPr lang="ru-RU" dirty="0"/>
              <a:t>пользователя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4570837" y="1182692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 b="0" i="0" u="none" strike="noStrike" cap="non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endParaRPr sz="1800" b="0" i="0" u="none" strike="noStrike" cap="non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39551" y="3393162"/>
            <a:ext cx="3528300" cy="12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52693" y="2434912"/>
            <a:ext cx="4276995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Актуальность предложения</a:t>
            </a:r>
            <a:r>
              <a:rPr lang="en-U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</a:p>
          <a:p>
            <a:pPr marL="285750" indent="-285750" latinLnBrk="1">
              <a:buFontTx/>
              <a:buChar char="-"/>
            </a:pPr>
            <a:r>
              <a:rPr lang="ru-RU" dirty="0"/>
              <a:t>Рост популярности домашних тренировок </a:t>
            </a:r>
            <a:r>
              <a:rPr lang="en-US" dirty="0"/>
              <a:t>        </a:t>
            </a:r>
            <a:r>
              <a:rPr lang="ru-RU" dirty="0"/>
              <a:t>и онлайн-фитнеса</a:t>
            </a:r>
            <a:endParaRPr lang="en-US" dirty="0"/>
          </a:p>
          <a:p>
            <a:pPr marL="285750" indent="-285750" latinLnBrk="1">
              <a:buFontTx/>
              <a:buChar char="-"/>
            </a:pPr>
            <a:endParaRPr lang="ru-RU" dirty="0"/>
          </a:p>
          <a:p>
            <a:pPr marL="285750" indent="-285750" latinLnBrk="1">
              <a:buFontTx/>
              <a:buChar char="-"/>
            </a:pPr>
            <a:r>
              <a:rPr lang="ru-RU" dirty="0"/>
              <a:t>Необходимость объективной обратной связи при самостоятельных занятиях</a:t>
            </a:r>
            <a:endParaRPr lang="en-US" dirty="0"/>
          </a:p>
          <a:p>
            <a:pPr marL="285750" indent="-285750" latinLnBrk="1">
              <a:buFontTx/>
              <a:buChar char="-"/>
            </a:pPr>
            <a:endParaRPr lang="ru-RU" dirty="0"/>
          </a:p>
          <a:p>
            <a:pPr marL="285750" indent="-285750" latinLnBrk="1">
              <a:buFontTx/>
              <a:buChar char="-"/>
            </a:pPr>
            <a:r>
              <a:rPr lang="ru-RU" dirty="0"/>
              <a:t>Профилактика травм за счет корректной </a:t>
            </a:r>
            <a:r>
              <a:rPr lang="en-US" dirty="0"/>
              <a:t>       </a:t>
            </a:r>
            <a:r>
              <a:rPr lang="ru-RU" dirty="0"/>
              <a:t>техники выполнения</a:t>
            </a:r>
            <a:endParaRPr lang="en-US" dirty="0"/>
          </a:p>
          <a:p>
            <a:pPr marL="285750" indent="-285750" latinLnBrk="1">
              <a:buFontTx/>
              <a:buChar char="-"/>
            </a:pPr>
            <a:endParaRPr lang="ru-RU" dirty="0"/>
          </a:p>
          <a:p>
            <a:pPr latinLnBrk="1"/>
            <a:r>
              <a:rPr lang="ru-RU" dirty="0"/>
              <a:t>- Возможность интеграции в фитнес-приложения и онлайн-платформы</a:t>
            </a:r>
          </a:p>
          <a:p>
            <a:br>
              <a:rPr lang="ru-RU" dirty="0"/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265255" y="2434912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4501156" y="1347614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-73024" y="3056061"/>
            <a:ext cx="46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659029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362778" y="1456053"/>
            <a:ext cx="431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284278" y="2523542"/>
            <a:ext cx="4392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023644" y="1134230"/>
            <a:ext cx="248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 b="0" i="0" u="none" strike="noStrike" cap="none" dirty="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Продолжительность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033980" y="1464985"/>
            <a:ext cx="1996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ru" sz="105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каждого из этапов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023644" y="2186114"/>
            <a:ext cx="118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 dirty="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Сроки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044124" y="2523542"/>
            <a:ext cx="246772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050"/>
            </a:pPr>
            <a:r>
              <a:rPr lang="ru" sz="105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всего проекта</a:t>
            </a:r>
            <a:r>
              <a:rPr lang="en-US" sz="105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-RU" dirty="0"/>
              <a:t>10 недель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966052" y="3233371"/>
            <a:ext cx="2911554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 dirty="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Технические ресурсы</a:t>
            </a:r>
            <a:r>
              <a:rPr lang="en-US" sz="1800" dirty="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:</a:t>
            </a:r>
          </a:p>
          <a:p>
            <a:pPr latinLnBrk="1"/>
            <a:r>
              <a:rPr lang="ru" sz="1800" dirty="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 </a:t>
            </a:r>
            <a:r>
              <a:rPr lang="en-US" sz="1200" dirty="0"/>
              <a:t>- GPU: NVIDIA GTX 3060</a:t>
            </a:r>
            <a:endParaRPr lang="ru-RU" sz="1200" dirty="0"/>
          </a:p>
          <a:p>
            <a:pPr latinLnBrk="1"/>
            <a:r>
              <a:rPr lang="ru-RU" sz="1200" dirty="0"/>
              <a:t>- </a:t>
            </a:r>
            <a:r>
              <a:rPr lang="en-US" sz="1200" dirty="0"/>
              <a:t>RAM: 16 GB </a:t>
            </a:r>
            <a:r>
              <a:rPr lang="ru-RU" sz="1200" dirty="0"/>
              <a:t>минимум</a:t>
            </a:r>
          </a:p>
          <a:p>
            <a:pPr latinLnBrk="1"/>
            <a:r>
              <a:rPr lang="ru-RU" sz="1200" dirty="0"/>
              <a:t>- </a:t>
            </a:r>
            <a:r>
              <a:rPr lang="en-US" sz="1200" dirty="0"/>
              <a:t>Python 3.9.10+, </a:t>
            </a:r>
            <a:r>
              <a:rPr lang="ru-RU" sz="1200" dirty="0"/>
              <a:t>библиотеки: </a:t>
            </a:r>
            <a:r>
              <a:rPr lang="en-US" sz="1200" dirty="0" err="1"/>
              <a:t>PyTorch</a:t>
            </a:r>
            <a:r>
              <a:rPr lang="en-US" sz="1200" dirty="0"/>
              <a:t>, OpenCV, NumPy, Matplotlib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18" y="2804945"/>
            <a:ext cx="462611" cy="460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0434" y="1716361"/>
            <a:ext cx="446420" cy="446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4357" y="740958"/>
            <a:ext cx="455332" cy="45765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803045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/>
          <p:nvPr/>
        </p:nvSpPr>
        <p:spPr>
          <a:xfrm>
            <a:off x="323528" y="690250"/>
            <a:ext cx="211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Алгоритмы 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539552" y="1552024"/>
            <a:ext cx="38883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526343" y="1244247"/>
            <a:ext cx="351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93843" y="1038653"/>
            <a:ext cx="3251283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r>
              <a:rPr lang="en-US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.</a:t>
            </a:r>
            <a:r>
              <a:rPr lang="ru-RU" dirty="0"/>
              <a:t> Детекция поз</a:t>
            </a:r>
          </a:p>
          <a:p>
            <a:pPr latinLnBrk="1"/>
            <a:r>
              <a:rPr lang="ru-RU" dirty="0"/>
              <a:t>- Использование </a:t>
            </a:r>
            <a:r>
              <a:rPr lang="ru-RU" dirty="0" err="1"/>
              <a:t>предобученной</a:t>
            </a:r>
            <a:r>
              <a:rPr lang="ru-RU" dirty="0"/>
              <a:t> модели </a:t>
            </a:r>
            <a:r>
              <a:rPr lang="ru-RU" dirty="0" err="1"/>
              <a:t>Keypoint</a:t>
            </a:r>
            <a:r>
              <a:rPr lang="ru-RU" dirty="0"/>
              <a:t> R-CNN ResNet-50 FPN</a:t>
            </a:r>
          </a:p>
          <a:p>
            <a:pPr latinLnBrk="1"/>
            <a:r>
              <a:rPr lang="ru-RU" dirty="0"/>
              <a:t>- Обнаружение 17 ключевых точек</a:t>
            </a:r>
            <a:r>
              <a:rPr lang="en-US" dirty="0"/>
              <a:t>  </a:t>
            </a:r>
            <a:r>
              <a:rPr lang="ru-RU" dirty="0"/>
              <a:t> человека</a:t>
            </a:r>
          </a:p>
          <a:p>
            <a:pPr latinLnBrk="1"/>
            <a:r>
              <a:rPr lang="ru-RU" dirty="0"/>
              <a:t>- Фильтрация результатов по порогу уверенности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   </a:t>
            </a: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600520" y="1552024"/>
            <a:ext cx="4404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587312" y="1244247"/>
            <a:ext cx="351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4320532" y="1049114"/>
            <a:ext cx="3379774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r>
              <a:rPr lang="en-US" sz="1800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. </a:t>
            </a:r>
            <a:r>
              <a:rPr lang="ru-RU" dirty="0"/>
              <a:t>Нормализация поз</a:t>
            </a:r>
          </a:p>
          <a:p>
            <a:pPr latinLnBrk="1"/>
            <a:r>
              <a:rPr lang="ru-RU" dirty="0"/>
              <a:t>- Аффинные преобразования для </a:t>
            </a:r>
            <a:r>
              <a:rPr lang="en-US" dirty="0"/>
              <a:t>      </a:t>
            </a:r>
            <a:r>
              <a:rPr lang="ru-RU" dirty="0"/>
              <a:t>выравнивания поз</a:t>
            </a:r>
          </a:p>
          <a:p>
            <a:pPr latinLnBrk="1"/>
            <a:r>
              <a:rPr lang="ru-RU" dirty="0"/>
              <a:t>- Масштабирование и центрирование</a:t>
            </a:r>
          </a:p>
          <a:p>
            <a:pPr latinLnBrk="1"/>
            <a:r>
              <a:rPr lang="ru-RU" dirty="0"/>
              <a:t>- Учет различий в пропорциях тела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539551" y="3543712"/>
            <a:ext cx="3528300" cy="12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26341" y="3065353"/>
            <a:ext cx="4277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293842" y="3003798"/>
            <a:ext cx="366626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r>
              <a:rPr lang="en-US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. </a:t>
            </a:r>
            <a:r>
              <a:rPr lang="ru-RU" dirty="0"/>
              <a:t>Метрики сравнения</a:t>
            </a:r>
          </a:p>
          <a:p>
            <a:pPr latinLnBrk="1"/>
            <a:r>
              <a:rPr lang="ru-RU" dirty="0"/>
              <a:t>- </a:t>
            </a:r>
            <a:r>
              <a:rPr lang="ru-RU" b="1" dirty="0"/>
              <a:t>Косинусное расстояние:</a:t>
            </a:r>
            <a:r>
              <a:rPr lang="ru-RU" dirty="0"/>
              <a:t> измерение </a:t>
            </a:r>
            <a:r>
              <a:rPr lang="en-US" dirty="0"/>
              <a:t>   </a:t>
            </a:r>
            <a:r>
              <a:rPr lang="ru-RU" dirty="0"/>
              <a:t>углового сходства поз</a:t>
            </a:r>
          </a:p>
          <a:p>
            <a:pPr latinLnBrk="1"/>
            <a:r>
              <a:rPr lang="ru-RU" dirty="0"/>
              <a:t>- </a:t>
            </a:r>
            <a:r>
              <a:rPr lang="ru-RU" b="1" dirty="0"/>
              <a:t>Взвешенное евклидово расстояние: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учет достоверности ключевых точек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4816543" y="3579862"/>
            <a:ext cx="40758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803335" y="3065353"/>
            <a:ext cx="4089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4413160" y="3029368"/>
            <a:ext cx="3399199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4</a:t>
            </a:r>
            <a:r>
              <a:rPr lang="en-US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.</a:t>
            </a:r>
            <a:r>
              <a:rPr lang="ru-RU" dirty="0"/>
              <a:t> Классификация качества</a:t>
            </a:r>
          </a:p>
          <a:p>
            <a:pPr latinLnBrk="1"/>
            <a:r>
              <a:rPr lang="ru-RU" dirty="0"/>
              <a:t>- Определение категорий качества на основе метрик</a:t>
            </a:r>
          </a:p>
          <a:p>
            <a:pPr latinLnBrk="1"/>
            <a:r>
              <a:rPr lang="ru-RU" dirty="0"/>
              <a:t>- Пороговые значения для различных уровней точности</a:t>
            </a:r>
          </a:p>
          <a:p>
            <a:pPr latinLnBrk="1"/>
            <a:r>
              <a:rPr lang="ru-RU" dirty="0"/>
              <a:t>- Визуальная индикация областей расхождения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 </a:t>
            </a: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-73024" y="3036029"/>
            <a:ext cx="46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94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836712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/>
          <p:nvPr/>
        </p:nvSpPr>
        <p:spPr>
          <a:xfrm>
            <a:off x="323525" y="555525"/>
            <a:ext cx="4248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Технологический стек для проекта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39552" y="1714912"/>
            <a:ext cx="26643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26343" y="1244247"/>
            <a:ext cx="2245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93843" y="1182692"/>
            <a:ext cx="2498455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r>
              <a:rPr lang="en-US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. </a:t>
            </a:r>
            <a:r>
              <a:rPr lang="ru-RU" sz="1000" dirty="0"/>
              <a:t>Язык программирования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/>
              <a:t>Python 3.</a:t>
            </a:r>
            <a:r>
              <a:rPr lang="en-US" sz="1000" b="1" dirty="0"/>
              <a:t>9.10</a:t>
            </a:r>
            <a:r>
              <a:rPr lang="ru-RU" sz="1000" dirty="0"/>
              <a:t> - основной язык </a:t>
            </a:r>
            <a:r>
              <a:rPr lang="en-US" sz="1000" dirty="0"/>
              <a:t>          </a:t>
            </a:r>
            <a:r>
              <a:rPr lang="ru-RU" sz="1000" dirty="0"/>
              <a:t>разработки</a:t>
            </a:r>
          </a:p>
          <a:p>
            <a:br>
              <a:rPr lang="ru-RU" sz="1800" dirty="0"/>
            </a:b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376384" y="1714912"/>
            <a:ext cx="24210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363177" y="1244247"/>
            <a:ext cx="2289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130676" y="1182692"/>
            <a:ext cx="2630202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r>
              <a:rPr lang="en-US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. </a:t>
            </a:r>
            <a:r>
              <a:rPr lang="ru-RU" sz="1000" dirty="0"/>
              <a:t>Библиотеки компьютерного зрения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OpenCV</a:t>
            </a:r>
            <a:r>
              <a:rPr lang="ru-RU" sz="1000" dirty="0"/>
              <a:t> – обработка</a:t>
            </a:r>
            <a:r>
              <a:rPr lang="en-US" sz="1000" dirty="0"/>
              <a:t> </a:t>
            </a:r>
            <a:r>
              <a:rPr lang="ru-RU" sz="1000" dirty="0"/>
              <a:t>видео и </a:t>
            </a:r>
            <a:r>
              <a:rPr lang="en-US" sz="1000" dirty="0"/>
              <a:t>                </a:t>
            </a:r>
            <a:r>
              <a:rPr lang="ru-RU" sz="1000" dirty="0"/>
              <a:t>изображений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PyTorch</a:t>
            </a:r>
            <a:r>
              <a:rPr lang="ru-RU" sz="1000" dirty="0"/>
              <a:t> - глубокое</a:t>
            </a:r>
            <a:r>
              <a:rPr lang="en-US" sz="1000" dirty="0"/>
              <a:t> </a:t>
            </a:r>
            <a:r>
              <a:rPr lang="ru-RU" sz="1000" dirty="0"/>
              <a:t>обучение, </a:t>
            </a:r>
            <a:r>
              <a:rPr lang="en-US" sz="1000" dirty="0"/>
              <a:t>               </a:t>
            </a:r>
            <a:r>
              <a:rPr lang="ru-RU" sz="1000" dirty="0" err="1"/>
              <a:t>предобученные</a:t>
            </a:r>
            <a:r>
              <a:rPr lang="ru-RU" sz="1000" dirty="0"/>
              <a:t> модели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Torchvision</a:t>
            </a:r>
            <a:r>
              <a:rPr lang="ru-RU" sz="1000" dirty="0"/>
              <a:t> - доступ к </a:t>
            </a:r>
            <a:r>
              <a:rPr lang="ru-RU" sz="1000" dirty="0" err="1"/>
              <a:t>Keypoint</a:t>
            </a:r>
            <a:r>
              <a:rPr lang="ru-RU" sz="1000" dirty="0"/>
              <a:t> R-CNN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570836" y="302383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483768" y="1198213"/>
            <a:ext cx="892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060996" y="1347614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8215888" y="1203598"/>
            <a:ext cx="1612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-134011" y="2488643"/>
            <a:ext cx="46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52684" y="2649143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436096" y="1203598"/>
            <a:ext cx="504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97300" y="1352999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6112688" y="1722823"/>
            <a:ext cx="241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099480" y="1252158"/>
            <a:ext cx="2289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866979" y="1190603"/>
            <a:ext cx="3313441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r>
              <a:rPr lang="en-US" sz="10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. </a:t>
            </a:r>
            <a:r>
              <a:rPr lang="ru-RU" sz="1000" dirty="0"/>
              <a:t>Библиотеки анализа данных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/>
              <a:t>**</a:t>
            </a:r>
            <a:r>
              <a:rPr lang="ru-RU" sz="1000" b="1" dirty="0" err="1"/>
              <a:t>NumPy</a:t>
            </a:r>
            <a:r>
              <a:rPr lang="ru-RU" sz="1000" b="1" dirty="0"/>
              <a:t>**</a:t>
            </a:r>
            <a:r>
              <a:rPr lang="ru-RU" sz="1000" dirty="0"/>
              <a:t> - численные вычисления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/>
              <a:t>**</a:t>
            </a:r>
            <a:r>
              <a:rPr lang="ru-RU" sz="1000" b="1" dirty="0" err="1"/>
              <a:t>Pandas</a:t>
            </a:r>
            <a:r>
              <a:rPr lang="ru-RU" sz="1000" b="1" dirty="0"/>
              <a:t>**</a:t>
            </a:r>
            <a:r>
              <a:rPr lang="ru-RU" sz="1000" dirty="0"/>
              <a:t> - обработка табличных данных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/>
              <a:t>**</a:t>
            </a:r>
            <a:r>
              <a:rPr lang="ru-RU" sz="1000" b="1" dirty="0" err="1"/>
              <a:t>SciPy</a:t>
            </a:r>
            <a:r>
              <a:rPr lang="ru-RU" sz="1000" b="1" dirty="0"/>
              <a:t>**</a:t>
            </a:r>
            <a:r>
              <a:rPr lang="ru-RU" sz="1000" dirty="0"/>
              <a:t> - научные вычисления, линейная</a:t>
            </a:r>
            <a:r>
              <a:rPr lang="en-US" sz="1000" dirty="0"/>
              <a:t> </a:t>
            </a:r>
            <a:r>
              <a:rPr lang="ru-RU" sz="1000" dirty="0"/>
              <a:t>алгебра</a:t>
            </a:r>
          </a:p>
          <a:p>
            <a:br>
              <a:rPr lang="ru-RU" sz="1800" dirty="0"/>
            </a:b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26343" y="2831249"/>
            <a:ext cx="26643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26343" y="2526963"/>
            <a:ext cx="22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93843" y="2465408"/>
            <a:ext cx="2878365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4</a:t>
            </a:r>
            <a:r>
              <a:rPr lang="en-US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.</a:t>
            </a:r>
            <a:r>
              <a:rPr lang="ru-RU" sz="1000" dirty="0"/>
              <a:t> Библиотеки визуализации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Matplotlib</a:t>
            </a:r>
            <a:r>
              <a:rPr lang="ru-RU" sz="1000" dirty="0"/>
              <a:t> - построение графиков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Seaborn</a:t>
            </a:r>
            <a:r>
              <a:rPr lang="ru-RU" sz="1000" dirty="0"/>
              <a:t> - статистическая визуализация</a:t>
            </a:r>
          </a:p>
          <a:p>
            <a:br>
              <a:rPr lang="ru-RU" sz="1800" dirty="0"/>
            </a:b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376384" y="2997628"/>
            <a:ext cx="24210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363177" y="2526963"/>
            <a:ext cx="2289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130676" y="2465408"/>
            <a:ext cx="266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5</a:t>
            </a:r>
            <a:r>
              <a:rPr lang="en-US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.</a:t>
            </a:r>
            <a:r>
              <a:rPr lang="ru-RU" dirty="0"/>
              <a:t> </a:t>
            </a:r>
            <a:r>
              <a:rPr lang="ru-RU" sz="1000" dirty="0"/>
              <a:t>Среды разработки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Jupyter</a:t>
            </a:r>
            <a:r>
              <a:rPr lang="ru-RU" sz="1000" b="1" dirty="0"/>
              <a:t> </a:t>
            </a:r>
            <a:r>
              <a:rPr lang="ru-RU" sz="1000" b="1" dirty="0" err="1"/>
              <a:t>Notebook</a:t>
            </a:r>
            <a:r>
              <a:rPr lang="ru-RU" sz="1000" dirty="0"/>
              <a:t> - исследовательский анализ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VSCode</a:t>
            </a:r>
            <a:r>
              <a:rPr lang="ru-RU" sz="1000" dirty="0"/>
              <a:t> - основная среда разработки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 </a:t>
            </a: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861128" y="2470144"/>
            <a:ext cx="135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060996" y="2630330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8102076" y="2494539"/>
            <a:ext cx="1612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424773" y="2488707"/>
            <a:ext cx="625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797300" y="2635715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6112688" y="3005539"/>
            <a:ext cx="26358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6099480" y="2534874"/>
            <a:ext cx="2289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868144" y="2470144"/>
            <a:ext cx="327585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6.</a:t>
            </a:r>
            <a:r>
              <a:rPr lang="ru-RU" dirty="0"/>
              <a:t> </a:t>
            </a:r>
            <a:r>
              <a:rPr lang="ru-RU" sz="1000" dirty="0"/>
              <a:t>Управление зависимостями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Conda</a:t>
            </a:r>
            <a:r>
              <a:rPr lang="ru-RU" sz="1000" b="1" dirty="0"/>
              <a:t>/</a:t>
            </a:r>
            <a:r>
              <a:rPr lang="ru-RU" sz="1000" b="1" dirty="0" err="1"/>
              <a:t>Pip</a:t>
            </a:r>
            <a:r>
              <a:rPr lang="ru-RU" sz="1000" dirty="0"/>
              <a:t> - управление пакетами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Git</a:t>
            </a:r>
            <a:r>
              <a:rPr lang="ru-RU" sz="1000" dirty="0"/>
              <a:t> - контроль версий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570836" y="427000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-134011" y="3734818"/>
            <a:ext cx="46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07909" y="4281196"/>
            <a:ext cx="26643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26343" y="3773138"/>
            <a:ext cx="2245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293843" y="3711583"/>
            <a:ext cx="262086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7</a:t>
            </a:r>
            <a:r>
              <a:rPr lang="ru" sz="1800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.</a:t>
            </a:r>
            <a:r>
              <a:rPr lang="ru-RU" dirty="0"/>
              <a:t> </a:t>
            </a:r>
            <a:r>
              <a:rPr lang="ru-RU" sz="1000" dirty="0"/>
              <a:t>Обработка видео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FFmpeg</a:t>
            </a:r>
            <a:r>
              <a:rPr lang="ru-RU" sz="1000" dirty="0"/>
              <a:t> - кодирование/декодирование видео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MoviePy</a:t>
            </a:r>
            <a:r>
              <a:rPr lang="ru-RU" sz="1000" dirty="0"/>
              <a:t> - программная работа с видео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376384" y="4270005"/>
            <a:ext cx="26742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363177" y="3773138"/>
            <a:ext cx="2289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3130677" y="3711583"/>
            <a:ext cx="242803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8.</a:t>
            </a:r>
            <a:r>
              <a:rPr lang="ru-RU" dirty="0"/>
              <a:t> </a:t>
            </a:r>
            <a:r>
              <a:rPr lang="ru-RU" sz="1000" dirty="0"/>
              <a:t>Визуализация результатов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/>
              <a:t>HTML/CSS</a:t>
            </a:r>
            <a:r>
              <a:rPr lang="ru-RU" sz="1000" dirty="0"/>
              <a:t> для веб-отображения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IPython.display</a:t>
            </a:r>
            <a:r>
              <a:rPr lang="ru-RU" sz="1000" dirty="0"/>
              <a:t> для интерактивного отображения в ноутбуках</a:t>
            </a:r>
          </a:p>
          <a:p>
            <a:br>
              <a:rPr lang="ru-RU" sz="1800" dirty="0"/>
            </a:b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2064929" y="3716319"/>
            <a:ext cx="135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060996" y="3876505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026375" y="3723878"/>
            <a:ext cx="91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797300" y="3881890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6194820" y="4042595"/>
            <a:ext cx="2635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194820" y="3757976"/>
            <a:ext cx="2985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868143" y="3716319"/>
            <a:ext cx="3271913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ru" sz="18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9</a:t>
            </a:r>
            <a:r>
              <a:rPr lang="ru" sz="1000" b="0" i="0" u="none" strike="noStrike" cap="none" dirty="0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.</a:t>
            </a:r>
            <a:r>
              <a:rPr lang="ru-RU" sz="1000" dirty="0"/>
              <a:t> Документирование</a:t>
            </a:r>
          </a:p>
          <a:p>
            <a:pPr latinLnBrk="1"/>
            <a:r>
              <a:rPr lang="ru-RU" sz="1000" dirty="0"/>
              <a:t>- </a:t>
            </a:r>
            <a:r>
              <a:rPr lang="ru-RU" sz="1000" b="1" dirty="0" err="1"/>
              <a:t>Markdown</a:t>
            </a:r>
            <a:r>
              <a:rPr lang="ru-RU" sz="1000" dirty="0"/>
              <a:t> для документации</a:t>
            </a:r>
          </a:p>
          <a:p>
            <a:pPr latinLnBrk="1"/>
            <a:endParaRPr lang="ru-RU"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60648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21140" y="195486"/>
            <a:ext cx="1062559" cy="2480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/>
          <p:nvPr/>
        </p:nvSpPr>
        <p:spPr>
          <a:xfrm>
            <a:off x="611560" y="1131590"/>
            <a:ext cx="4572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 sz="2400" dirty="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Метрики успешности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881301" y="2345834"/>
            <a:ext cx="223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683568" y="2624594"/>
            <a:ext cx="1728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3779912" y="2624594"/>
            <a:ext cx="1728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6732240" y="2624594"/>
            <a:ext cx="1728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804506" y="3890348"/>
            <a:ext cx="1728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732240" y="3863013"/>
            <a:ext cx="1728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755576" y="2427734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5183560" y="2401604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5163540" y="3663907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683568" y="3863013"/>
            <a:ext cx="1728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755576" y="3666153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34E8E-3162-1617-B290-5E91324D2896}"/>
              </a:ext>
            </a:extLst>
          </p:cNvPr>
          <p:cNvSpPr txBox="1"/>
          <p:nvPr/>
        </p:nvSpPr>
        <p:spPr>
          <a:xfrm>
            <a:off x="899576" y="2324643"/>
            <a:ext cx="52370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92D050"/>
                </a:solidFill>
                <a:latin typeface="+mn-lt"/>
              </a:rPr>
              <a:t>1. Точность детекции поз</a:t>
            </a:r>
          </a:p>
          <a:p>
            <a:r>
              <a:rPr lang="ru-RU" dirty="0">
                <a:solidFill>
                  <a:srgbClr val="92D050"/>
                </a:solidFill>
                <a:latin typeface="+mn-lt"/>
              </a:rPr>
              <a:t>- Точность обнаружения ключевых точек ≥ 95%</a:t>
            </a:r>
          </a:p>
          <a:p>
            <a:r>
              <a:rPr lang="ru-RU" dirty="0">
                <a:solidFill>
                  <a:srgbClr val="92D050"/>
                </a:solidFill>
                <a:latin typeface="+mn-lt"/>
              </a:rPr>
              <a:t>- Средняя точность по COCO метрике (AP) ≥ 0.7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FE02E-15CB-130F-7AB3-BA457C7A876B}"/>
              </a:ext>
            </a:extLst>
          </p:cNvPr>
          <p:cNvSpPr txBox="1"/>
          <p:nvPr/>
        </p:nvSpPr>
        <p:spPr>
          <a:xfrm>
            <a:off x="5383675" y="2328842"/>
            <a:ext cx="5237018" cy="73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92D050"/>
                </a:solidFill>
                <a:effectLst/>
                <a:latin typeface="+mn-lt"/>
              </a:rPr>
              <a:t>2. Эффективность сравнения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92D050"/>
                </a:solidFill>
                <a:effectLst/>
                <a:latin typeface="+mn-lt"/>
              </a:rPr>
              <a:t>- Время обработки одного кадра ≤ 100 мс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92D050"/>
                </a:solidFill>
                <a:effectLst/>
                <a:latin typeface="+mn-lt"/>
              </a:rPr>
              <a:t>- Корреляция с экспертной оценкой ≥ 0.85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96E47-2313-E260-1D54-6CFA5C093F76}"/>
              </a:ext>
            </a:extLst>
          </p:cNvPr>
          <p:cNvSpPr txBox="1"/>
          <p:nvPr/>
        </p:nvSpPr>
        <p:spPr>
          <a:xfrm>
            <a:off x="899576" y="3593805"/>
            <a:ext cx="5938404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92D050"/>
                </a:solidFill>
                <a:effectLst/>
                <a:latin typeface="+mn-lt"/>
              </a:rPr>
              <a:t>3. Пользовательские метрики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92D050"/>
                </a:solidFill>
                <a:effectLst/>
                <a:latin typeface="+mn-lt"/>
              </a:rPr>
              <a:t>- Интуитивность визуализации (опрос пользователей)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92D050"/>
                </a:solidFill>
                <a:effectLst/>
                <a:latin typeface="+mn-lt"/>
              </a:rPr>
              <a:t>- Точность определения уровня качества ≥ 90%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92D050"/>
                </a:solidFill>
                <a:effectLst/>
                <a:latin typeface="+mn-lt"/>
              </a:rPr>
              <a:t>- Удовлетворенность пользователей обратной связью</a:t>
            </a:r>
          </a:p>
          <a:p>
            <a:pPr>
              <a:buNone/>
            </a:pPr>
            <a:br>
              <a:rPr lang="ru-RU" dirty="0">
                <a:solidFill>
                  <a:srgbClr val="92D050"/>
                </a:solidFill>
                <a:latin typeface="+mn-lt"/>
              </a:rPr>
            </a:br>
            <a:endParaRPr lang="ru-RU" dirty="0">
              <a:solidFill>
                <a:srgbClr val="92D05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5D081-E25B-C644-6B8C-E3BC7B823F90}"/>
              </a:ext>
            </a:extLst>
          </p:cNvPr>
          <p:cNvSpPr txBox="1"/>
          <p:nvPr/>
        </p:nvSpPr>
        <p:spPr>
          <a:xfrm>
            <a:off x="5275222" y="3598581"/>
            <a:ext cx="5938404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92D050"/>
                </a:solidFill>
                <a:effectLst/>
                <a:latin typeface="+mn-lt"/>
              </a:rPr>
              <a:t>4. Технические метрики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92D050"/>
                </a:solidFill>
                <a:effectLst/>
                <a:latin typeface="+mn-lt"/>
              </a:rPr>
              <a:t>- Обработка видео 30 FPS в реальном времени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92D050"/>
                </a:solidFill>
                <a:effectLst/>
                <a:latin typeface="+mn-lt"/>
              </a:rPr>
              <a:t>- Поддержка разрешения до 1080p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92D050"/>
                </a:solidFill>
                <a:effectLst/>
                <a:latin typeface="+mn-lt"/>
              </a:rPr>
              <a:t>- Кроссплатформенность решения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529</Words>
  <Application>Microsoft Office PowerPoint</Application>
  <PresentationFormat>Экран (16:9)</PresentationFormat>
  <Paragraphs>109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Roboto Black</vt:lpstr>
      <vt:lpstr>Arial</vt:lpstr>
      <vt:lpstr>Calibri</vt:lpstr>
      <vt:lpstr>Roboto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Павел Лавров</cp:lastModifiedBy>
  <cp:revision>21</cp:revision>
  <dcterms:modified xsi:type="dcterms:W3CDTF">2026-02-03T09:55:44Z</dcterms:modified>
</cp:coreProperties>
</file>